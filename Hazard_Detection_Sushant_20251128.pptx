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241280" y="164592"/>
            <a:ext cx="2011680" cy="6492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9326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2355B"/>
                </a:solidFill>
              </a:defRPr>
            </a:pPr>
            <a:r>
              <a:t>Hybrid IoT and Computer Vision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E86AB"/>
                </a:solidFill>
              </a:defRPr>
            </a:pPr>
            <a:r>
              <a:t>for Real-Time Industrial Hazard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574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9656F"/>
                </a:solidFill>
              </a:defRPr>
            </a:pPr>
            <a:r>
              <a:t>Worker Safety Compliance | Dissertation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8595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Sushant Tomar | 1/24/SET/MVLSI/001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Supervisor: Dr. Umesh Dutta | Co-Supervisor: Dr. Abhiruchi Passi</a:t>
            </a:r>
          </a:p>
          <a:p>
            <a:pPr>
              <a:spcAft>
                <a:spcPts val="800"/>
              </a:spcAft>
              <a:defRPr sz="1500">
                <a:solidFill>
                  <a:srgbClr val="1A1A1A"/>
                </a:solidFill>
              </a:defRPr>
            </a:pPr>
            <a:r>
              <a:t>Department of ECE, MRIIRS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4663440"/>
            <a:ext cx="2377440" cy="822960"/>
          </a:xfrm>
          <a:prstGeom prst="round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4773168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AI + IoT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Edge Safety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Problem context and research gap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Proposed hybrid IoT-CV framework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System architecture and workflow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Implementation and model configuration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Fusion engine and alert mechanism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Actual experimental results and charts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Conclusion, limitations, and future scope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188720"/>
            <a:ext cx="457200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0" y="1188720"/>
            <a:ext cx="4480560" cy="109728"/>
          </a:xfrm>
          <a:prstGeom prst="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1152" y="1389888"/>
            <a:ext cx="4160563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Core idea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Combine visible hazards from camera analytics with invisible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environmental hazards from IoT sensors.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423160"/>
            <a:ext cx="4572000" cy="11612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6560" y="2423160"/>
            <a:ext cx="4480560" cy="109728"/>
          </a:xfrm>
          <a:prstGeom prst="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1152" y="2624328"/>
            <a:ext cx="3716210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Evaluation focus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Runtime performance, latency, resource use, decision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distribution, and model efficacy pathway.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657599"/>
            <a:ext cx="4572000" cy="1161287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766560" y="3657600"/>
            <a:ext cx="448056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31152" y="3858768"/>
            <a:ext cx="352724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Output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A modular, reproducible prototype for Industry 4.0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safety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Industrial Safety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355B"/>
                </a:solidFill>
              </a:defRPr>
            </a:pPr>
            <a:r>
              <a:t>Why hybrid safety monitoring is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5204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520440" cy="109728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755648"/>
            <a:ext cx="3273397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Manual supervision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Fatigue, limited field of view, delayed response,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and missed events in dynamic industrial 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54480"/>
            <a:ext cx="35204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52044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755648"/>
            <a:ext cx="287174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CCTV-only monitoring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Passive surveillance cannot automatically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detect PPE violations or risk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52044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520440" cy="109728"/>
          </a:xfrm>
          <a:prstGeom prst="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11312" y="1755648"/>
            <a:ext cx="3342775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IoT-only sensing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Sensors detect gas, heat, or vibration but cannot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interpret worker behavior or PPE compliance.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Industrial hazards include toxic gases, high temperatures, machine vibration, PPE non-compliance, fall incidents, and restricted-zone violations.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Single-modality systems create blind spots: visible-only systems miss invisible hazards, while sensor-only systems miss behavioral risks.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A fused edge solution can improve responsiveness, privacy, and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Research Aim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Research 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923695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9656F"/>
                </a:solidFill>
              </a:defRPr>
            </a:pPr>
            <a:r>
              <a:rPr dirty="0"/>
              <a:t>Design, develop, and evaluate a Hybrid IoT-Computer Vision framework for real-time industrial hazard </a:t>
            </a:r>
            <a:endParaRPr lang="en-US" dirty="0"/>
          </a:p>
          <a:p>
            <a:pPr>
              <a:defRPr sz="1700">
                <a:solidFill>
                  <a:srgbClr val="59656F"/>
                </a:solidFill>
              </a:defRPr>
            </a:pPr>
            <a:r>
              <a:rPr dirty="0"/>
              <a:t>detection and worker safety compliance.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86AB"/>
                </a:solidFill>
              </a:defRPr>
            </a:pPr>
            <a:r>
              <a:t>Specific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50">
                <a:solidFill>
                  <a:srgbClr val="1A1A1A"/>
                </a:solidFill>
              </a:defRPr>
            </a:pPr>
            <a:r>
              <a:t>Integrate IoT environmental sensing with CV-based PPE and hazard detection.</a:t>
            </a:r>
          </a:p>
          <a:p>
            <a:pPr>
              <a:spcAft>
                <a:spcPts val="800"/>
              </a:spcAft>
              <a:defRPr sz="1650">
                <a:solidFill>
                  <a:srgbClr val="1A1A1A"/>
                </a:solidFill>
              </a:defRPr>
            </a:pPr>
            <a:r>
              <a:t>Implement edge-compatible processing with low-latency decision-making.</a:t>
            </a:r>
          </a:p>
          <a:p>
            <a:pPr>
              <a:spcAft>
                <a:spcPts val="800"/>
              </a:spcAft>
              <a:defRPr sz="1650">
                <a:solidFill>
                  <a:srgbClr val="1A1A1A"/>
                </a:solidFill>
              </a:defRPr>
            </a:pPr>
            <a:r>
              <a:t>Fuse sensor and vision evidence using rule-based and confidence-weighted logic.</a:t>
            </a:r>
          </a:p>
          <a:p>
            <a:pPr>
              <a:spcAft>
                <a:spcPts val="800"/>
              </a:spcAft>
              <a:defRPr sz="1650">
                <a:solidFill>
                  <a:srgbClr val="1A1A1A"/>
                </a:solidFill>
              </a:defRPr>
            </a:pPr>
            <a:r>
              <a:t>Generate real-time alerts through MQTT, buzzer, email, and local dashboard modules.</a:t>
            </a:r>
          </a:p>
          <a:p>
            <a:pPr>
              <a:spcAft>
                <a:spcPts val="800"/>
              </a:spcAft>
              <a:defRPr sz="1650">
                <a:solidFill>
                  <a:srgbClr val="1A1A1A"/>
                </a:solidFill>
              </a:defRPr>
            </a:pPr>
            <a:r>
              <a:t>Evaluate using FPS, latency, CPU/memory use, decision distribution, and model efficacy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Proposed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Hybrid IoT + Computer Vision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20239"/>
            <a:ext cx="2103120" cy="1568549"/>
          </a:xfrm>
          <a:prstGeom prst="round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IoT Sensors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dirty="0"/>
              <a:t>Gas</a:t>
            </a:r>
            <a:br>
              <a:rPr dirty="0"/>
            </a:br>
            <a:r>
              <a:rPr dirty="0"/>
              <a:t>Temp</a:t>
            </a:r>
            <a:br>
              <a:rPr dirty="0"/>
            </a:br>
            <a:r>
              <a:rPr dirty="0"/>
              <a:t>Vibration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920240"/>
            <a:ext cx="2011680" cy="1568548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4640" y="2029968"/>
            <a:ext cx="1737359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Camera Feed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dirty="0"/>
              <a:t>Video / camera</a:t>
            </a:r>
            <a:br>
              <a:rPr dirty="0"/>
            </a:br>
            <a:r>
              <a:rPr dirty="0"/>
              <a:t>input frames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2521" y="1920240"/>
            <a:ext cx="2072639" cy="150876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202996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Edge Processing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dirty="0"/>
              <a:t>YOLO inference</a:t>
            </a:r>
            <a:br>
              <a:rPr dirty="0"/>
            </a:br>
            <a:r>
              <a:rPr dirty="0"/>
              <a:t>Sensor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50608" y="1920240"/>
            <a:ext cx="2130552" cy="1508760"/>
          </a:xfrm>
          <a:prstGeom prst="round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02996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Fusion Engine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dirty="0"/>
              <a:t>Rule-based +</a:t>
            </a:r>
            <a:br>
              <a:rPr dirty="0"/>
            </a:br>
            <a:r>
              <a:rPr dirty="0"/>
              <a:t>weighted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36608" y="1920240"/>
            <a:ext cx="2130552" cy="1448972"/>
          </a:xfrm>
          <a:prstGeom prst="roundRect">
            <a:avLst/>
          </a:prstGeom>
          <a:solidFill>
            <a:srgbClr val="61A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0" y="202996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rPr dirty="0"/>
              <a:t>Alerts + Logs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rPr dirty="0"/>
              <a:t>MQTT / email</a:t>
            </a:r>
            <a:br>
              <a:rPr dirty="0"/>
            </a:br>
            <a:r>
              <a:rPr dirty="0"/>
              <a:t>SQLite events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14600" y="2212848"/>
            <a:ext cx="256032" cy="329184"/>
          </a:xfrm>
          <a:prstGeom prst="rightArrow">
            <a:avLst/>
          </a:prstGeom>
          <a:solidFill>
            <a:srgbClr val="59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4709160" y="2212848"/>
            <a:ext cx="256032" cy="329184"/>
          </a:xfrm>
          <a:prstGeom prst="rightArrow">
            <a:avLst/>
          </a:prstGeom>
          <a:solidFill>
            <a:srgbClr val="59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6995160" y="2212848"/>
            <a:ext cx="256032" cy="329184"/>
          </a:xfrm>
          <a:prstGeom prst="rightArrow">
            <a:avLst/>
          </a:prstGeom>
          <a:solidFill>
            <a:srgbClr val="59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9281160" y="2212848"/>
            <a:ext cx="256032" cy="329184"/>
          </a:xfrm>
          <a:prstGeom prst="rightArrow">
            <a:avLst/>
          </a:prstGeom>
          <a:solidFill>
            <a:srgbClr val="596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10789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Edge execution avoids constant cloud dependency and reduces response time.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Sensor-vision fusion improves situational awareness by combining physical measurements and visual evidence.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The modular pipeline allows model replacement, sensor expansion, and future dashboard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Prototype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Implemented software modules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Implemented modules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Configuration loader, logger, utilities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Sensors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Sensor reader, preprocessor, sensor manager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Vision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Camera/video manager, PPE detector, fall detector, zone detector, frame annotator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Fusion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Fusion engine, risk assessor, rule-based logic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Alerts and logs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MQTT publisher, email alert, buzzer placeholder, SQLite event logger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Research metrics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Frame-level metrics collector and graph generator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5623560"/>
            <a:ext cx="96146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656F"/>
                </a:solidFill>
              </a:defRPr>
            </a:pPr>
            <a:r>
              <a:rPr dirty="0"/>
              <a:t>The implementation is structured as a repeatable frame loop: read sensor data, acquire frame, run detection, fuse evidence, alert</a:t>
            </a:r>
            <a:endParaRPr lang="en-US" dirty="0"/>
          </a:p>
          <a:p>
            <a:pPr>
              <a:defRPr sz="1400">
                <a:solidFill>
                  <a:srgbClr val="59656F"/>
                </a:solidFill>
              </a:defRPr>
            </a:pPr>
            <a:r>
              <a:rPr dirty="0"/>
              <a:t>, log, annotate, and display.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Computer Vision Model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YOLO-based visual hazard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3035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30352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64208"/>
            <a:ext cx="3784369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Primary model path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The system attempts to load a custom PPE model from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models/ppe_model.pt.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63040"/>
            <a:ext cx="530352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303520" cy="109728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664208"/>
            <a:ext cx="5051191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Fallback model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If the custom PPE model is unavailable, the system falls back to yolov8n.pt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for generic object/person detection.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The custom model should contain classes such as helmet, no_helmet, vest, no_vest, person, and fall for PPE-specific evaluation.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The fallback YOLOv8n model is useful for general person/object detection but should not be reported as a specialized PPE detector unless PPE classes are trained and validated.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Model efficacy should be reported separately from runtime performance using labeled ground-truth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Fusion Engine and Decision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Decision-level sensor-vision fusion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5486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FFFFFF"/>
                          </a:solidFill>
                        </a:defRPr>
                      </a:pPr>
                      <a:r>
                        <a:t>System decision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Gas high + no helmet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CRITICAL_ALERT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No helmet detected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HIGH_RISK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Fall detected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EMERGENCY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Gas high + person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HIGH_RISK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Temperature high + person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HIGH_RISK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Vibration high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MEDIUM_RISK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Weighted score &gt;= 0.85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HIGH_RISK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Weighted score &gt;= 0.60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B1B1B"/>
                          </a:solidFill>
                        </a:defRPr>
                      </a:pPr>
                      <a:r>
                        <a:t>MEDIUM_RISK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417320"/>
            <a:ext cx="493776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0" y="1417320"/>
            <a:ext cx="4937760" cy="109728"/>
          </a:xfrm>
          <a:prstGeom prst="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1618488"/>
            <a:ext cx="4608576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t>Fusion score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t>Final score = 0.6 x sensor score + 0.4 x vision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788920"/>
            <a:ext cx="493776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0" y="2788920"/>
            <a:ext cx="4937760" cy="109728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2990088"/>
            <a:ext cx="413683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Safety value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A hazard is confirmed more strongly when visual and sensor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evidence support each other.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160520"/>
            <a:ext cx="4937760" cy="1188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0" y="4160520"/>
            <a:ext cx="493776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4361688"/>
            <a:ext cx="4476034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Research measurement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Decisions are logged frame-by-frame for distribution analysis and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future confusion-matrix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Evaluation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Runtime and efficacy evaluation 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4747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347472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18488"/>
            <a:ext cx="2925994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Runtime metrics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FPS, frame latency, PPE detection latency,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fusion latency, logging time, display time,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CPU usage, and memory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747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3474720" cy="109728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3712" y="1618488"/>
            <a:ext cx="2943242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Decision analysis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Distribution of HIGH_RISK, MEDIUM_RISK,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CRITICAL_ALERT, EMERGENCY, and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SAFE decisions across frames.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4747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3474720" cy="109728"/>
          </a:xfrm>
          <a:prstGeom prst="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8471" y="1618488"/>
            <a:ext cx="3323282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Model efficacy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Precision, recall, F1-score, </a:t>
            </a:r>
            <a:r>
              <a:rPr dirty="0" err="1"/>
              <a:t>mAP</a:t>
            </a:r>
            <a:r>
              <a:rPr dirty="0"/>
              <a:t>, false alarm rate,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and missed hazard rate require labeled ground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truth.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This presentation uses actual runtime logs from 64 processed frames.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Accuracy metrics are included as a research pathway, not invented values.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For publication, run multiple scenarios and report mean plus standard deviation.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Actual Runtime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Frame-level system performance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01168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64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Frames processed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2011680" cy="914400"/>
          </a:xfrm>
          <a:prstGeom prst="round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152704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6.76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Average FPS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417320"/>
            <a:ext cx="2011680" cy="914400"/>
          </a:xfrm>
          <a:prstGeom prst="round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152704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160.4 ms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Avg frame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1417320"/>
            <a:ext cx="2011680" cy="91440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52704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80.6 ms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PPE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417320"/>
            <a:ext cx="2011680" cy="914400"/>
          </a:xfrm>
          <a:prstGeom prst="roundRect">
            <a:avLst/>
          </a:prstGeom>
          <a:solidFill>
            <a:srgbClr val="F6C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52704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44.8%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Avg CPU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288036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Min FPS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Max FPS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9.809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Average fusion time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0.017 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Average memory usage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931.8 MB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HIGH_RISK frames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MEDIUM_RISK frames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B1B1B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83680" y="297180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1A1A1A"/>
                </a:solidFill>
              </a:defRPr>
            </a:pPr>
            <a:r>
              <a:t>The measured run shows the computer vision stage as the main latency contributor.</a:t>
            </a:r>
          </a:p>
          <a:p>
            <a:pPr>
              <a:spcAft>
                <a:spcPts val="800"/>
              </a:spcAft>
              <a:defRPr sz="1550">
                <a:solidFill>
                  <a:srgbClr val="1A1A1A"/>
                </a:solidFill>
              </a:defRPr>
            </a:pPr>
            <a:r>
              <a:t>System decisions were risk-oriented: 75% HIGH_RISK and 25% MEDIUM_RISK.</a:t>
            </a:r>
          </a:p>
          <a:p>
            <a:pPr>
              <a:spcAft>
                <a:spcPts val="800"/>
              </a:spcAft>
              <a:defRPr sz="1550">
                <a:solidFill>
                  <a:srgbClr val="1A1A1A"/>
                </a:solidFill>
              </a:defRPr>
            </a:pPr>
            <a:r>
              <a:t>No SAFE, CRITICAL_ALERT, or EMERGENCY frames occurred in this particular test run.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Line Chart: FPS and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Actual frame-level performance trend</a:t>
            </a:r>
          </a:p>
        </p:txBody>
      </p:sp>
      <p:pic>
        <p:nvPicPr>
          <p:cNvPr id="8" name="Picture 7" descr="fps_latenc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8992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7150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9656F"/>
                </a:solidFill>
              </a:defRPr>
            </a:pPr>
            <a:r>
              <a:t>Observation: frame latency rises noticeably after approximately frame 45, while FPS drops to around 3-4 FPS for the later segment.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Pipeline Bottleneck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Average processing time by stage</a:t>
            </a:r>
          </a:p>
        </p:txBody>
      </p:sp>
      <p:pic>
        <p:nvPicPr>
          <p:cNvPr id="8" name="Picture 7" descr="stage_tim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1042416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9656F"/>
                </a:solidFill>
              </a:defRPr>
            </a:pPr>
            <a:r>
              <a:t>PPE inference contributed the largest average stage latency, followed by frame acquisition and display/annotation/logging overheads.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Decision and Sensor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Risk decisions and sensor trends</a:t>
            </a:r>
          </a:p>
        </p:txBody>
      </p:sp>
      <p:pic>
        <p:nvPicPr>
          <p:cNvPr id="8" name="Picture 7" descr="decisio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37760" cy="4114800"/>
          </a:xfrm>
          <a:prstGeom prst="rect">
            <a:avLst/>
          </a:prstGeom>
        </p:spPr>
      </p:pic>
      <p:pic>
        <p:nvPicPr>
          <p:cNvPr id="9" name="Picture 8" descr="sensor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325880"/>
            <a:ext cx="530352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9656F"/>
                </a:solidFill>
              </a:defRPr>
            </a:pPr>
            <a:r>
              <a:t>HIGH_RISK decisions were mostly linked to missing-helmet/person detections and elevated multimodal anomaly scores.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Resource Use and Detection 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Runtime resource and detection behavior</a:t>
            </a:r>
          </a:p>
        </p:txBody>
      </p:sp>
      <p:pic>
        <p:nvPicPr>
          <p:cNvPr id="8" name="Picture 7" descr="cpu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440680" cy="4160520"/>
          </a:xfrm>
          <a:prstGeom prst="rect">
            <a:avLst/>
          </a:prstGeom>
        </p:spPr>
      </p:pic>
      <p:pic>
        <p:nvPicPr>
          <p:cNvPr id="9" name="Picture 8" descr="detections_c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40680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71500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9656F"/>
                </a:solidFill>
              </a:defRPr>
            </a:pPr>
            <a:r>
              <a:t>Average memory usage was approximately 931.8 MB; PPE/person detections ranged from 2 to 7 objects per frame in the measured run.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Discussion of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Interpretation of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347472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3198953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Real-time feasibility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Average FPS of 6.76 indicates a working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prototype, but further optimization is needed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for smoother real-time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4747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417320"/>
            <a:ext cx="3474720" cy="109728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618488"/>
            <a:ext cx="3072957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Bottleneck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PPE detection latency dominated processing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time, suggesting model optimization or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hardware acceleration as the priority.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47472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474720" cy="109728"/>
          </a:xfrm>
          <a:prstGeom prst="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1618488"/>
            <a:ext cx="3114699" cy="11464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355B"/>
                </a:solidFill>
              </a:defRPr>
            </a:pPr>
            <a:r>
              <a:rPr dirty="0"/>
              <a:t>Safety behavior</a:t>
            </a:r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The test generated HIGH_RISK and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 MEDIUM_RISK frames, validating that the </a:t>
            </a:r>
            <a:endParaRPr lang="en-US" dirty="0"/>
          </a:p>
          <a:p>
            <a:pPr>
              <a:spcBef>
                <a:spcPts val="600"/>
              </a:spcBef>
              <a:defRPr sz="1250">
                <a:solidFill>
                  <a:srgbClr val="59656F"/>
                </a:solidFill>
              </a:defRPr>
            </a:pPr>
            <a:r>
              <a:rPr dirty="0"/>
              <a:t>fusion logic produced active safety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Actual accuracy cannot be concluded from runtime logs alone; it requires labeled ground truth.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For research reporting, runtime performance and model efficacy should be presented as separate evaluations.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The current results are suitable for a prototype-level feasibility and performance analysis.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How to Report Model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Efficacy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Accuracy evaluation requires ground-truth labels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What is needed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marL="73152" marR="73152"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True vs predicted detections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Correctness of predicted PPE/hazard detections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All real hazards annotated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Ability to avoid missed hazards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Precision + recall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Balanced detection performance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mAP@0.5 / 0.5:0.95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Bounding-box labels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Object detection benchmark score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False alarm rate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True SAFE scenarios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Incorrect risk alerts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Missed hazard rate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True hazard scenarios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1B1B1B"/>
                          </a:solidFill>
                        </a:defRPr>
                      </a:pPr>
                      <a:r>
                        <a:t>Hazards predicted as SAFE</a:t>
                      </a:r>
                    </a:p>
                  </a:txBody>
                  <a:tcPr marL="73152" marR="73152">
                    <a:solidFill>
                      <a:srgbClr val="EE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6235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9656F"/>
                </a:solidFill>
              </a:defRPr>
            </a:pPr>
            <a:r>
              <a:t>Recommended next step: validate models on a labeled PPE and hazard dataset, then merge detection metrics with runtime findings.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Limitations and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55B"/>
                </a:solidFill>
              </a:defRPr>
            </a:pPr>
            <a:r>
              <a:t>Limitations and planned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Current runtime sample contains only 64 frames; a larger multi-scenario test set should be used for final publication results.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PPE classification depends on availability of a trained custom model; fallback YOLOv8n should not be treated as a PPE-specific model.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Environmental factors such as lighting, occlusion, dust, and camera position may reduce detection confidence.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Future improvements include TensorRT/ONNX optimization, edge accelerators, multi-camera fusion, adaptive thresholds, and explainable AI visualizations.</a:t>
            </a:r>
          </a:p>
          <a:p>
            <a:pPr>
              <a:spcAft>
                <a:spcPts val="800"/>
              </a:spcAft>
              <a:defRPr sz="1700">
                <a:solidFill>
                  <a:srgbClr val="1A1A1A"/>
                </a:solidFill>
              </a:defRPr>
            </a:pPr>
            <a:r>
              <a:t>Final efficacy reporting should include confusion matrices and precision-recall curves from labeled test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128016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E6E6E6"/>
                </a:solidFill>
              </a:defRPr>
            </a:pPr>
            <a: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35508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656F"/>
                </a:solidFill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355B"/>
                </a:solidFill>
              </a:defRPr>
            </a:pPr>
            <a: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0424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A1A1A"/>
                </a:solidFill>
              </a:defRPr>
            </a:pPr>
            <a:r>
              <a:rPr dirty="0"/>
              <a:t>The proposed framework demonstrates a practical hybrid IoT-computer vision safety monitoring pipeline.</a:t>
            </a:r>
          </a:p>
          <a:p>
            <a:pPr>
              <a:spcAft>
                <a:spcPts val="800"/>
              </a:spcAft>
              <a:defRPr sz="1900">
                <a:solidFill>
                  <a:srgbClr val="1A1A1A"/>
                </a:solidFill>
              </a:defRPr>
            </a:pPr>
            <a:r>
              <a:rPr dirty="0"/>
              <a:t>Actual runtime logging produced measurable evidence for FPS, latency, resource usage, and decision distribution.</a:t>
            </a:r>
          </a:p>
          <a:p>
            <a:pPr>
              <a:spcAft>
                <a:spcPts val="800"/>
              </a:spcAft>
              <a:defRPr sz="1900">
                <a:solidFill>
                  <a:srgbClr val="1A1A1A"/>
                </a:solidFill>
              </a:defRPr>
            </a:pPr>
            <a:r>
              <a:rPr dirty="0"/>
              <a:t>The system is modular, reproducible, and suitable for further optimization and labeled-data validation.</a:t>
            </a:r>
          </a:p>
          <a:p>
            <a:pPr>
              <a:spcAft>
                <a:spcPts val="800"/>
              </a:spcAft>
              <a:defRPr sz="1900">
                <a:solidFill>
                  <a:srgbClr val="1A1A1A"/>
                </a:solidFill>
              </a:defRPr>
            </a:pPr>
            <a:r>
              <a:rPr dirty="0"/>
              <a:t>Hybrid sensor-vision fusion offers stronger situational awareness than isolated IoT-only or CV-only approaches.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219456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0932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6.76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Avg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983480"/>
            <a:ext cx="2194560" cy="822960"/>
          </a:xfrm>
          <a:prstGeom prst="round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79" y="50932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160 ms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Avg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983480"/>
            <a:ext cx="2194560" cy="822960"/>
          </a:xfrm>
          <a:prstGeom prst="roundRect">
            <a:avLst/>
          </a:prstGeom>
          <a:solidFill>
            <a:srgbClr val="0EA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06440" y="50932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48/64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HIGH_RISK frames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983480"/>
            <a:ext cx="2194560" cy="822960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509320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931.8 MB</a:t>
            </a:r>
          </a:p>
          <a:p>
            <a:pPr algn="ctr">
              <a:defRPr sz="1050">
                <a:solidFill>
                  <a:srgbClr val="FFFFFF"/>
                </a:solidFill>
              </a:defRPr>
            </a:pPr>
            <a:r>
              <a:t>Avg memory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1545</Words>
  <Application>Microsoft Office PowerPoint</Application>
  <PresentationFormat>Widescreen</PresentationFormat>
  <Paragraphs>276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Tomar, Prashant</cp:lastModifiedBy>
  <cp:revision>4</cp:revision>
  <dcterms:created xsi:type="dcterms:W3CDTF">2013-01-27T09:14:16Z</dcterms:created>
  <dcterms:modified xsi:type="dcterms:W3CDTF">2026-06-20T16:29:45Z</dcterms:modified>
  <cp:category/>
</cp:coreProperties>
</file>